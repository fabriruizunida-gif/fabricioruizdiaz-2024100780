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C5781E74-5CD4-DCBF-A3FE-BBBCD9E71AF5}">
          <p14:sldIdLst>
            <p14:sldId id="256"/>
            <p14:sldId id="257"/>
            <p14:sldId id="258"/>
            <p14:sldId id="259"/>
          </p14:sldIdLst>
        </p14:section>
        <p14:section name="La solución" id="{653051A4-1136-7229-A1E0-13BD2159C432}">
          <p14:sldIdLst>
            <p14:sldId id="260"/>
            <p14:sldId id="261"/>
            <p14:sldId id="262"/>
          </p14:sldIdLst>
        </p14:section>
        <p14:section name="Implementación" id="{538B1BBD-36B8-7420-6FBA-D5AE2AFBD408}">
          <p14:sldIdLst>
            <p14:sldId id="263"/>
            <p14:sldId id="264"/>
            <p14:sldId id="265"/>
            <p14:sldId id="266"/>
          </p14:sldIdLst>
        </p14:section>
        <p14:section name="Cierre" id="{BA2CEF5C-2897-B6EC-60D0-D202F86468F2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ADE580-EBED-014A-A92A-665BBCD5A76E}" type="datetimeFigureOut">
              <a:rPr lang="es-US" smtClean="0"/>
              <a:t>10/26/2026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B008E1-43A4-9346-B6D6-93F43DF76F4B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859741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EcoTrade Tech: una plataforma web para dar una segunda vida a los componentes electrónicos mediante trueque, donación y centros de acopio.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Situación identificada en la formulación del proyecto. Consecuencias si no se atiende: más residuos electrónicos, pérdida de piezas reutilizables, mayores costos de repuestos y menos oportunidades de donación.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EcoTrade Tech integra en una sola plataforma funciones que normalmente están separadas: intercambio, donación, puntos y centros de acopio.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ODS 12 es el principal: la plataforma promueve la reutilización, reparación e intercambio de componentes antes de que se conviertan en residuos.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Flujo principal implementado. Al aceptar, el componente pasa a 'No disponible' y el solicitante ve el WhatsApp del vendedor en su perfil para coordinar la entrega.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tipo de intercambio no se elige en el formulario: se infiere del botón que el usuario presiona en el inicio ('Vender' para trueque o 'Donar' para Puntos Eco).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Prototipo de interfaz de las 8 pantallas: bienvenida, inicio, publicar, categorías, seguimiento, historial, centros de acopio y perfil. La implementación en Thymeleaf y Bootstrap sigue este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MVC en capas: controladores que orquestan el flujo web, servicios que encapsulan el acceso a Firestore y vistas Thymeleaf renderizadas en el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colecciones NoSQL. Las relaciones entre componentes, transacciones y usuarios se resuelven por nombre de usuario. El modelo Valoración ya existe para las calificaciones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estados controlan la visibilidad en Explorar: lo 'No disponible' desaparece del listado y lo 'Pausado' muestra el badge 'En proceso de intercambio'.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Módulos implementados y probados en el prototipo. Quedan para la siguiente etapa los módulos de pedidos sociales, reportes comunitarios de tiraderos y calificaciones entre usuarios.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Indicadores definidos en la formulación del proyecto para el Workshop. La meta tecnológica ya se cumple con 7 módulos operativos; las metas de usuarios se medirán en la etapa piloto.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etapa: reforzar seguridad (hash de contraseñas, credenciales fuera del repositorio), migrar las imágenes a almacenamiento en la nube y completar los módulos comunitarios previstos.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Estudiantes de 5.º semestre de Ingeniería en Informática, Facultad de Ingeniería, UNIDA.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apertura a preguntas. Usuarios de prueba para la demostración: profe / 12345 y alumno / 12345.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56692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i="1" dirty="0">
                <a:solidFill>
                  <a:schemeClr val="accent5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3"/>
                </a:solidFill>
              </a:rPr>
              <a:t>EcoTrade Tech · Workshop de Ingeniería 2026.2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4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6.png" /><Relationship Id="rId5" Type="http://schemas.openxmlformats.org/officeDocument/2006/relationships/image" Target="../media/image4.png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3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7" Type="http://schemas.openxmlformats.org/officeDocument/2006/relationships/image" Target="../media/image1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0.png" /><Relationship Id="rId5" Type="http://schemas.openxmlformats.org/officeDocument/2006/relationships/image" Target="../media/image9.png" /><Relationship Id="rId4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1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4.jpg" /><Relationship Id="rId5" Type="http://schemas.openxmlformats.org/officeDocument/2006/relationships/image" Target="../media/image7.png" /><Relationship Id="rId4" Type="http://schemas.openxmlformats.org/officeDocument/2006/relationships/image" Target="../media/image12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17.png" /><Relationship Id="rId5" Type="http://schemas.openxmlformats.org/officeDocument/2006/relationships/image" Target="../media/image16.png" /><Relationship Id="rId4" Type="http://schemas.openxmlformats.org/officeDocument/2006/relationships/image" Target="../media/image15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0.png" /><Relationship Id="rId5" Type="http://schemas.openxmlformats.org/officeDocument/2006/relationships/image" Target="../media/image3.png" /><Relationship Id="rId4" Type="http://schemas.openxmlformats.org/officeDocument/2006/relationships/image" Target="../media/image19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3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3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3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3.xml" /><Relationship Id="rId6" Type="http://schemas.openxmlformats.org/officeDocument/2006/relationships/image" Target="../media/image25.png" /><Relationship Id="rId5" Type="http://schemas.openxmlformats.org/officeDocument/2006/relationships/image" Target="../media/image24.png" /><Relationship Id="rId4" Type="http://schemas.openxmlformats.org/officeDocument/2006/relationships/image" Target="../media/image23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3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EcoTrade Tech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5"/>
                </a:solidFill>
              </a:rPr>
              <a:t>Dale una segunda vida a la tecnología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Workshop de Ingeniería 2026.2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03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“Ingeniería Sostenible: Tecnología con Impacto”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Sistemas Orientados a Objetos I · Ingeniería en Informática · UNIDA</a:t>
            </a:r>
            <a:endParaRPr lang="en-US" sz="1400" dirty="0"/>
          </a:p>
        </p:txBody>
      </p:sp>
      <p:sp>
        <p:nvSpPr>
          <p:cNvPr id="7" name="logo-circulo"/>
          <p:cNvSpPr/>
          <p:nvPr/>
        </p:nvSpPr>
        <p:spPr>
          <a:xfrm>
            <a:off x="6400800" y="123444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Hardware útil que termina como residuo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Muchas personas guardan componentes que ya no usan, mientras estudiantes, colegios y organizaciones necesitan justamente esas piezas.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0604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No existe un espacio digital centralizado que conecte a ambos lados.</a:t>
            </a:r>
            <a:endParaRPr lang="en-US" sz="1800" dirty="0"/>
          </a:p>
        </p:txBody>
      </p:sp>
      <p:sp>
        <p:nvSpPr>
          <p:cNvPr id="5" name="tarjeta"/>
          <p:cNvSpPr/>
          <p:nvPr/>
        </p:nvSpPr>
        <p:spPr>
          <a:xfrm>
            <a:off x="4572000" y="1188720"/>
            <a:ext cx="4114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icono-circulo"/>
          <p:cNvSpPr/>
          <p:nvPr/>
        </p:nvSpPr>
        <p:spPr>
          <a:xfrm>
            <a:off x="47548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526" y="15142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0" y="1325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Acumulación sin uso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16184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Placas, memorias y monitores olvidados en cajones.</a:t>
            </a:r>
            <a:endParaRPr lang="en-US" sz="1200" dirty="0"/>
          </a:p>
        </p:txBody>
      </p:sp>
      <p:sp>
        <p:nvSpPr>
          <p:cNvPr id="10" name="tarjeta"/>
          <p:cNvSpPr/>
          <p:nvPr/>
        </p:nvSpPr>
        <p:spPr>
          <a:xfrm>
            <a:off x="4572000" y="2286000"/>
            <a:ext cx="4114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icono-circulo"/>
          <p:cNvSpPr/>
          <p:nvPr/>
        </p:nvSpPr>
        <p:spPr>
          <a:xfrm>
            <a:off x="4754880" y="24688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261152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2423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 canal especializado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0" y="271576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No hay dónde intercambiar o donar piezas de forma confiable.</a:t>
            </a:r>
            <a:endParaRPr lang="en-US" sz="1200" dirty="0"/>
          </a:p>
        </p:txBody>
      </p:sp>
      <p:sp>
        <p:nvSpPr>
          <p:cNvPr id="15" name="tarjeta"/>
          <p:cNvSpPr/>
          <p:nvPr/>
        </p:nvSpPr>
        <p:spPr>
          <a:xfrm>
            <a:off x="4572000" y="3383280"/>
            <a:ext cx="4114800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icono-circulo"/>
          <p:cNvSpPr/>
          <p:nvPr/>
        </p:nvSpPr>
        <p:spPr>
          <a:xfrm>
            <a:off x="475488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7526" y="3708806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486400" y="35204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Acopio difícil de ubicar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0" y="38130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Poca información sobre dónde reciclar residuos electrónicos.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Una plataforma, cuatro pilares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68580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Trueque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Publicá un componente con un valor referencial en guaraníes y negociá el intercambio.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o-circulo"/>
          <p:cNvSpPr/>
          <p:nvPr/>
        </p:nvSpPr>
        <p:spPr>
          <a:xfrm>
            <a:off x="4892040" y="14630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60720" y="14447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Donación con Puntos Eco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760720" y="1828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Una moneda virtual interna que premia a quien dona y permite canjear piezas.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o-circulo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33211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Mapa de centros de acopio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Ubicá puntos de reciclaje, sus horarios y qué materiales aceptan.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icono-circulo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461" y="3321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60720" y="3136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Perfil y seguimiento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76072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Gestioná tus publicaciones, solicitudes y saldo desde un solo lugar.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Alineado con los ODS de la ONU</a:t>
            </a:r>
            <a:endParaRPr lang="en-US" sz="3200" dirty="0"/>
          </a:p>
        </p:txBody>
      </p:sp>
      <p:sp>
        <p:nvSpPr>
          <p:cNvPr id="3" name="ods-principal"/>
          <p:cNvSpPr/>
          <p:nvPr/>
        </p:nvSpPr>
        <p:spPr>
          <a:xfrm>
            <a:off x="457200" y="1188720"/>
            <a:ext cx="3291840" cy="3291840"/>
          </a:xfrm>
          <a:prstGeom prst="roundRect">
            <a:avLst>
              <a:gd name="adj" fmla="val 41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/>
                </a:solidFill>
              </a:rPr>
              <a:t>ODS PRINCIPAL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bg1"/>
                </a:solidFill>
              </a:rPr>
              <a:t>12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Producción y consumo responsables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Reutilizar y reparar antes de desechar.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4023360" y="1188720"/>
            <a:ext cx="466344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ods-numero"/>
          <p:cNvSpPr/>
          <p:nvPr/>
        </p:nvSpPr>
        <p:spPr>
          <a:xfrm>
            <a:off x="4206240" y="1362456"/>
            <a:ext cx="640080" cy="6400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06240" y="13624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9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13441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Industria, innovación e infraestructura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664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Tecnología web que conecta usuarios e instituciones.</a:t>
            </a:r>
            <a:endParaRPr lang="en-US" sz="1300" dirty="0"/>
          </a:p>
        </p:txBody>
      </p:sp>
      <p:sp>
        <p:nvSpPr>
          <p:cNvPr id="13" name="tarjeta"/>
          <p:cNvSpPr/>
          <p:nvPr/>
        </p:nvSpPr>
        <p:spPr>
          <a:xfrm>
            <a:off x="4023360" y="2313432"/>
            <a:ext cx="466344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ods-numero"/>
          <p:cNvSpPr/>
          <p:nvPr/>
        </p:nvSpPr>
        <p:spPr>
          <a:xfrm>
            <a:off x="4206240" y="2487168"/>
            <a:ext cx="640080" cy="6400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24871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24688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Ciudades y comunidades sostenibles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788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Centros de acopio visibles para toda la comunidad.</a:t>
            </a:r>
            <a:endParaRPr lang="en-US" sz="1300" dirty="0"/>
          </a:p>
        </p:txBody>
      </p:sp>
      <p:sp>
        <p:nvSpPr>
          <p:cNvPr id="18" name="tarjeta"/>
          <p:cNvSpPr/>
          <p:nvPr/>
        </p:nvSpPr>
        <p:spPr>
          <a:xfrm>
            <a:off x="4023360" y="3438144"/>
            <a:ext cx="466344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ods-numero"/>
          <p:cNvSpPr/>
          <p:nvPr/>
        </p:nvSpPr>
        <p:spPr>
          <a:xfrm>
            <a:off x="4206240" y="3611880"/>
            <a:ext cx="640080" cy="64008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0624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3593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Acción por el clima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91363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3"/>
                </a:solidFill>
              </a:rPr>
              <a:t>Menos residuos electrónicos y menor demanda de hardware nuevo.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Del cajón a un nuevo dueño en cinco pasos</a:t>
            </a:r>
            <a:endParaRPr lang="en-US" sz="3200" dirty="0"/>
          </a:p>
        </p:txBody>
      </p:sp>
      <p:sp>
        <p:nvSpPr>
          <p:cNvPr id="3" name="icono-circulo"/>
          <p:cNvSpPr/>
          <p:nvPr/>
        </p:nvSpPr>
        <p:spPr>
          <a:xfrm>
            <a:off x="841248" y="13716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1597457"/>
            <a:ext cx="416966" cy="416966"/>
          </a:xfrm>
          <a:prstGeom prst="rect">
            <a:avLst/>
          </a:prstGeom>
        </p:spPr>
      </p:pic>
      <p:sp>
        <p:nvSpPr>
          <p:cNvPr id="5" name="flecha"/>
          <p:cNvSpPr/>
          <p:nvPr/>
        </p:nvSpPr>
        <p:spPr>
          <a:xfrm>
            <a:off x="1828800" y="1691640"/>
            <a:ext cx="29260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1. Publicar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Foto, categoría, estado y valor del componente</a:t>
            </a:r>
            <a:endParaRPr lang="en-US" sz="1400" dirty="0"/>
          </a:p>
        </p:txBody>
      </p:sp>
      <p:sp>
        <p:nvSpPr>
          <p:cNvPr id="8" name="icono-circulo"/>
          <p:cNvSpPr/>
          <p:nvPr/>
        </p:nvSpPr>
        <p:spPr>
          <a:xfrm>
            <a:off x="2532888" y="13716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745" y="1597457"/>
            <a:ext cx="416966" cy="416966"/>
          </a:xfrm>
          <a:prstGeom prst="rect">
            <a:avLst/>
          </a:prstGeom>
        </p:spPr>
      </p:pic>
      <p:sp>
        <p:nvSpPr>
          <p:cNvPr id="10" name="flecha"/>
          <p:cNvSpPr/>
          <p:nvPr/>
        </p:nvSpPr>
        <p:spPr>
          <a:xfrm>
            <a:off x="3520440" y="1691640"/>
            <a:ext cx="29260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14884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2. Explorar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19456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Filtrar por categoría entre piezas disponibles</a:t>
            </a:r>
            <a:endParaRPr lang="en-US" sz="1400" dirty="0"/>
          </a:p>
        </p:txBody>
      </p:sp>
      <p:sp>
        <p:nvSpPr>
          <p:cNvPr id="13" name="icono-circulo"/>
          <p:cNvSpPr/>
          <p:nvPr/>
        </p:nvSpPr>
        <p:spPr>
          <a:xfrm>
            <a:off x="4224528" y="13716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0385" y="1597457"/>
            <a:ext cx="416966" cy="416966"/>
          </a:xfrm>
          <a:prstGeom prst="rect">
            <a:avLst/>
          </a:prstGeom>
        </p:spPr>
      </p:pic>
      <p:sp>
        <p:nvSpPr>
          <p:cNvPr id="15" name="flecha"/>
          <p:cNvSpPr/>
          <p:nvPr/>
        </p:nvSpPr>
        <p:spPr>
          <a:xfrm>
            <a:off x="5212080" y="1691640"/>
            <a:ext cx="29260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84048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3. Solicitar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88620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El interesado envía una solicitud al dueño</a:t>
            </a:r>
            <a:endParaRPr lang="en-US" sz="1400" dirty="0"/>
          </a:p>
        </p:txBody>
      </p:sp>
      <p:sp>
        <p:nvSpPr>
          <p:cNvPr id="18" name="icono-circulo"/>
          <p:cNvSpPr/>
          <p:nvPr/>
        </p:nvSpPr>
        <p:spPr>
          <a:xfrm>
            <a:off x="5916168" y="13716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2025" y="1597457"/>
            <a:ext cx="416966" cy="416966"/>
          </a:xfrm>
          <a:prstGeom prst="rect">
            <a:avLst/>
          </a:prstGeom>
        </p:spPr>
      </p:pic>
      <p:sp>
        <p:nvSpPr>
          <p:cNvPr id="20" name="flecha"/>
          <p:cNvSpPr/>
          <p:nvPr/>
        </p:nvSpPr>
        <p:spPr>
          <a:xfrm>
            <a:off x="6903720" y="1691640"/>
            <a:ext cx="292608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553212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4. Aceptar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57784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El dueño acepta y se transfieren los puntos</a:t>
            </a:r>
            <a:endParaRPr lang="en-US" sz="1400" dirty="0"/>
          </a:p>
        </p:txBody>
      </p:sp>
      <p:sp>
        <p:nvSpPr>
          <p:cNvPr id="23" name="icono-circulo"/>
          <p:cNvSpPr/>
          <p:nvPr/>
        </p:nvSpPr>
        <p:spPr>
          <a:xfrm>
            <a:off x="7607808" y="137160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ono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3665" y="1597457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223760" y="2423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5. Coordinar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7269480" y="28346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3"/>
                </a:solidFill>
              </a:rPr>
              <a:t>Se comparte el WhatsApp para la entrega</a:t>
            </a:r>
            <a:endParaRPr lang="en-US" sz="1400" dirty="0"/>
          </a:p>
        </p:txBody>
      </p:sp>
      <p:sp>
        <p:nvSpPr>
          <p:cNvPr id="27" name="nota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Los componentes propios se ocultan en Inicio y Explorar: solo se gestionan desde el Perfil.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Dos formas de intercambiar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73152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15956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Trueque</a:t>
            </a:r>
            <a:endParaRPr lang="en-US" sz="2000" dirty="0"/>
          </a:p>
        </p:txBody>
      </p:sp>
      <p:sp>
        <p:nvSpPr>
          <p:cNvPr id="7" name="etiqueta-precio"/>
          <p:cNvSpPr/>
          <p:nvPr/>
        </p:nvSpPr>
        <p:spPr>
          <a:xfrm>
            <a:off x="1600200" y="1874520"/>
            <a:ext cx="26517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00200" y="1874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Base: 50.000 Gs. (Negociable)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4688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Valor referencial en guaraníes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Las partes negocian directamente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mueve Puntos Eco</a:t>
            </a:r>
            <a:endParaRPr lang="en-US" sz="1500" dirty="0"/>
          </a:p>
        </p:txBody>
      </p:sp>
      <p:sp>
        <p:nvSpPr>
          <p:cNvPr id="10" name="tarjeta"/>
          <p:cNvSpPr/>
          <p:nvPr/>
        </p:nvSpPr>
        <p:spPr>
          <a:xfrm>
            <a:off x="4663440" y="1188720"/>
            <a:ext cx="4023360" cy="2606040"/>
          </a:xfrm>
          <a:prstGeom prst="roundRect">
            <a:avLst>
              <a:gd name="adj" fmla="val 421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icono-circulo"/>
          <p:cNvSpPr/>
          <p:nvPr/>
        </p:nvSpPr>
        <p:spPr>
          <a:xfrm>
            <a:off x="4937760" y="141732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15956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0644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Donación · Puntos Eco</a:t>
            </a:r>
            <a:endParaRPr lang="en-US" sz="2000" dirty="0"/>
          </a:p>
        </p:txBody>
      </p:sp>
      <p:sp>
        <p:nvSpPr>
          <p:cNvPr id="14" name="etiqueta-precio"/>
          <p:cNvSpPr/>
          <p:nvPr/>
        </p:nvSpPr>
        <p:spPr>
          <a:xfrm>
            <a:off x="5806440" y="1874520"/>
            <a:ext cx="2651760" cy="329184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06440" y="18745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+30 pts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937760" y="2468880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Moneda virtual interna de la plataforma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 aceptar, los puntos pasan del solicitante al dueño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Bono de bienvenida de 50 puntos</a:t>
            </a:r>
            <a:endParaRPr lang="en-US" sz="1500" dirty="0"/>
          </a:p>
        </p:txBody>
      </p:sp>
      <p:sp>
        <p:nvSpPr>
          <p:cNvPr id="17" name="nota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580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El tipo se define desde el inicio: “Vender” publica un trueque y “Donar”, una donación.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Diseño pensado primero para el celular</a:t>
            </a:r>
            <a:endParaRPr lang="en-US" sz="3200" dirty="0"/>
          </a:p>
        </p:txBody>
      </p:sp>
      <p:sp>
        <p:nvSpPr>
          <p:cNvPr id="3" name="icono-circulo"/>
          <p:cNvSpPr/>
          <p:nvPr/>
        </p:nvSpPr>
        <p:spPr>
          <a:xfrm>
            <a:off x="457200" y="1234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1377086"/>
            <a:ext cx="263347" cy="26334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216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Mobile-first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52704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Navegación inferior fija con Inicio, Explorar, Mapa y Perfil.</a:t>
            </a:r>
            <a:endParaRPr lang="en-US" sz="1400" dirty="0"/>
          </a:p>
        </p:txBody>
      </p:sp>
      <p:sp>
        <p:nvSpPr>
          <p:cNvPr id="7" name="icono-circulo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24743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313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Identidad verde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26243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Paleta y tarjetas que comunican sostenibilidad.</a:t>
            </a:r>
            <a:endParaRPr lang="en-US" sz="1400" dirty="0"/>
          </a:p>
        </p:txBody>
      </p:sp>
      <p:sp>
        <p:nvSpPr>
          <p:cNvPr id="11" name="icono-circulo"/>
          <p:cNvSpPr/>
          <p:nvPr/>
        </p:nvSpPr>
        <p:spPr>
          <a:xfrm>
            <a:off x="457200" y="3429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35716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34107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Foto desde la cámara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188720" y="3721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Publicar un componente toma menos de un minuto.</a:t>
            </a:r>
            <a:endParaRPr lang="en-US" sz="1400" dirty="0"/>
          </a:p>
        </p:txBody>
      </p:sp>
      <p:pic>
        <p:nvPicPr>
          <p:cNvPr id="15" name="mockup-pantallas" descr="C:/Users/Mutual/Desktop/EcoTradeTech/docs/PHOTO-2026-10-09-16-20-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051560"/>
            <a:ext cx="4114800" cy="37692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Arquitectura de la aplicación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141732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74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Navegador móvil o web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Thymeleaf + Bootstrap 5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Leaflet + OpenStreetMap</a:t>
            </a:r>
            <a:endParaRPr lang="en-US" sz="1300" dirty="0"/>
          </a:p>
        </p:txBody>
      </p:sp>
      <p:sp>
        <p:nvSpPr>
          <p:cNvPr id="8" name="flecha"/>
          <p:cNvSpPr/>
          <p:nvPr/>
        </p:nvSpPr>
        <p:spPr>
          <a:xfrm>
            <a:off x="3044952" y="2331720"/>
            <a:ext cx="22860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arjeta"/>
          <p:cNvSpPr/>
          <p:nvPr/>
        </p:nvSpPr>
        <p:spPr>
          <a:xfrm>
            <a:off x="3291840" y="118872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o-circulo"/>
          <p:cNvSpPr/>
          <p:nvPr/>
        </p:nvSpPr>
        <p:spPr>
          <a:xfrm>
            <a:off x="425196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381" y="15380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Servidor · Spring Boot 4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Controladores: Inicio, Auth, App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Servicios por entidad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Sesión HTTP y modelos Lombok</a:t>
            </a:r>
            <a:endParaRPr lang="en-US" sz="1300" dirty="0"/>
          </a:p>
        </p:txBody>
      </p:sp>
      <p:sp>
        <p:nvSpPr>
          <p:cNvPr id="14" name="flecha"/>
          <p:cNvSpPr/>
          <p:nvPr/>
        </p:nvSpPr>
        <p:spPr>
          <a:xfrm>
            <a:off x="5879592" y="2331720"/>
            <a:ext cx="228600" cy="22860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arjeta"/>
          <p:cNvSpPr/>
          <p:nvPr/>
        </p:nvSpPr>
        <p:spPr>
          <a:xfrm>
            <a:off x="6126480" y="1188720"/>
            <a:ext cx="2560320" cy="2514600"/>
          </a:xfrm>
          <a:prstGeom prst="roundRect">
            <a:avLst>
              <a:gd name="adj" fmla="val 436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icono-circulo"/>
          <p:cNvSpPr/>
          <p:nvPr/>
        </p:nvSpPr>
        <p:spPr>
          <a:xfrm>
            <a:off x="708660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3021" y="153802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63640" y="21214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Datos · Firebase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63640" y="25146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Cloud Firestore (NoSQL)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4 colecciones</a:t>
            </a:r>
            <a:endParaRPr lang="en-US" sz="13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3"/>
                </a:solidFill>
              </a:rPr>
              <a:t>Firebase Admin SDK</a:t>
            </a:r>
            <a:endParaRPr lang="en-US" sz="1300" dirty="0"/>
          </a:p>
        </p:txBody>
      </p:sp>
      <p:sp>
        <p:nvSpPr>
          <p:cNvPr id="20" name="despliegue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690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430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Despliegue: Docker multi-stage (Maven → Java 21) en Render, con puerto dinámico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Modelo de datos en Firestore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15023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usuarios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username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email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celular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puntosEco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reputación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2578608" y="118872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o-circulo"/>
          <p:cNvSpPr/>
          <p:nvPr/>
        </p:nvSpPr>
        <p:spPr>
          <a:xfrm>
            <a:off x="2761488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2247" y="15023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61488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componentes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61488" y="2423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título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categoría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tipoIntercambio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puntosValor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estado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4700016" y="118872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o-circulo"/>
          <p:cNvSpPr/>
          <p:nvPr/>
        </p:nvSpPr>
        <p:spPr>
          <a:xfrm>
            <a:off x="4882896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655" y="150235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82896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transacciones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82896" y="2423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componente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ofertante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solicitante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tipo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estadoSeguimiento</a:t>
            </a:r>
            <a:endParaRPr lang="en-US" sz="1400" dirty="0"/>
          </a:p>
        </p:txBody>
      </p:sp>
      <p:sp>
        <p:nvSpPr>
          <p:cNvPr id="18" name="tarjeta"/>
          <p:cNvSpPr/>
          <p:nvPr/>
        </p:nvSpPr>
        <p:spPr>
          <a:xfrm>
            <a:off x="6821424" y="1188720"/>
            <a:ext cx="1938528" cy="3017520"/>
          </a:xfrm>
          <a:prstGeom prst="roundRect">
            <a:avLst>
              <a:gd name="adj" fmla="val 566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icono-circulo"/>
          <p:cNvSpPr/>
          <p:nvPr/>
        </p:nvSpPr>
        <p:spPr>
          <a:xfrm>
            <a:off x="7004304" y="13716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5063" y="1502359"/>
            <a:ext cx="241402" cy="24140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04304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centrosAcopio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004304" y="24231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nombre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dirección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horario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lat / long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3"/>
                </a:solidFill>
              </a:rPr>
              <a:t>ítems aceptados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Estados que ordenan cada intercambio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Componente</a:t>
            </a:r>
            <a:endParaRPr lang="en-US" sz="1800" dirty="0"/>
          </a:p>
        </p:txBody>
      </p:sp>
      <p:sp>
        <p:nvSpPr>
          <p:cNvPr id="4" name="estado"/>
          <p:cNvSpPr/>
          <p:nvPr/>
        </p:nvSpPr>
        <p:spPr>
          <a:xfrm>
            <a:off x="457200" y="1691640"/>
            <a:ext cx="21031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Disponible</a:t>
            </a:r>
            <a:endParaRPr lang="en-US" sz="1500" dirty="0"/>
          </a:p>
        </p:txBody>
      </p:sp>
      <p:sp>
        <p:nvSpPr>
          <p:cNvPr id="6" name="flecha"/>
          <p:cNvSpPr/>
          <p:nvPr/>
        </p:nvSpPr>
        <p:spPr>
          <a:xfrm>
            <a:off x="2697480" y="1828800"/>
            <a:ext cx="32004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estado"/>
          <p:cNvSpPr/>
          <p:nvPr/>
        </p:nvSpPr>
        <p:spPr>
          <a:xfrm>
            <a:off x="3154680" y="1691640"/>
            <a:ext cx="21031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5468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Pausado</a:t>
            </a:r>
            <a:endParaRPr lang="en-US" sz="1500" dirty="0"/>
          </a:p>
        </p:txBody>
      </p:sp>
      <p:sp>
        <p:nvSpPr>
          <p:cNvPr id="9" name="flecha"/>
          <p:cNvSpPr/>
          <p:nvPr/>
        </p:nvSpPr>
        <p:spPr>
          <a:xfrm>
            <a:off x="5394960" y="1828800"/>
            <a:ext cx="32004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estado"/>
          <p:cNvSpPr/>
          <p:nvPr/>
        </p:nvSpPr>
        <p:spPr>
          <a:xfrm>
            <a:off x="5852160" y="1691640"/>
            <a:ext cx="210312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6916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 disponible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Visible para todos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En proceso de intercambio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286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3"/>
                </a:solidFill>
              </a:rPr>
              <a:t>Concretado o retirado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Solicitud</a:t>
            </a:r>
            <a:endParaRPr lang="en-US" sz="1800" dirty="0"/>
          </a:p>
        </p:txBody>
      </p:sp>
      <p:sp>
        <p:nvSpPr>
          <p:cNvPr id="16" name="estado"/>
          <p:cNvSpPr/>
          <p:nvPr/>
        </p:nvSpPr>
        <p:spPr>
          <a:xfrm>
            <a:off x="457200" y="3291840"/>
            <a:ext cx="210312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Pendiente</a:t>
            </a:r>
            <a:endParaRPr lang="en-US" sz="1500" dirty="0"/>
          </a:p>
        </p:txBody>
      </p:sp>
      <p:sp>
        <p:nvSpPr>
          <p:cNvPr id="18" name="flecha"/>
          <p:cNvSpPr/>
          <p:nvPr/>
        </p:nvSpPr>
        <p:spPr>
          <a:xfrm>
            <a:off x="2697480" y="3429000"/>
            <a:ext cx="320040" cy="228600"/>
          </a:xfrm>
          <a:prstGeom prst="rightArrow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estado"/>
          <p:cNvSpPr/>
          <p:nvPr/>
        </p:nvSpPr>
        <p:spPr>
          <a:xfrm>
            <a:off x="3154680" y="3291840"/>
            <a:ext cx="2103120" cy="502920"/>
          </a:xfrm>
          <a:prstGeom prst="roundRect">
            <a:avLst>
              <a:gd name="adj" fmla="val 4909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32918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Aceptada · WhatsApp</a:t>
            </a:r>
            <a:endParaRPr lang="en-US" sz="1500" dirty="0"/>
          </a:p>
        </p:txBody>
      </p:sp>
      <p:sp>
        <p:nvSpPr>
          <p:cNvPr id="21" name="estado"/>
          <p:cNvSpPr/>
          <p:nvPr/>
        </p:nvSpPr>
        <p:spPr>
          <a:xfrm>
            <a:off x="5440680" y="329184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4068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Rechazada</a:t>
            </a:r>
            <a:endParaRPr lang="en-US" sz="1500" dirty="0"/>
          </a:p>
        </p:txBody>
      </p:sp>
      <p:sp>
        <p:nvSpPr>
          <p:cNvPr id="23" name="estado"/>
          <p:cNvSpPr/>
          <p:nvPr/>
        </p:nvSpPr>
        <p:spPr>
          <a:xfrm>
            <a:off x="7040880" y="3291840"/>
            <a:ext cx="1463040" cy="502920"/>
          </a:xfrm>
          <a:prstGeom prst="roundRect">
            <a:avLst>
              <a:gd name="adj" fmla="val 4909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3291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Cancelada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El dueño acepta o rechaza; quien solicitó puede cancelar mientras siga pendiente.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Un MVP funcional que supera la meta</a:t>
            </a:r>
            <a:endParaRPr lang="en-US" sz="3200" dirty="0"/>
          </a:p>
        </p:txBody>
      </p:sp>
      <p:sp>
        <p:nvSpPr>
          <p:cNvPr id="3" name="estadistica"/>
          <p:cNvSpPr/>
          <p:nvPr/>
        </p:nvSpPr>
        <p:spPr>
          <a:xfrm>
            <a:off x="457200" y="1188720"/>
            <a:ext cx="274320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600" b="1" dirty="0">
                <a:solidFill>
                  <a:schemeClr val="bg1"/>
                </a:solidFill>
              </a:rPr>
              <a:t>7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módulos operativos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5"/>
                </a:solidFill>
              </a:rPr>
              <a:t>Meta del proyecto: 6</a:t>
            </a:r>
            <a:endParaRPr lang="en-US" sz="1400" dirty="0"/>
          </a:p>
        </p:txBody>
      </p:sp>
      <p:sp>
        <p:nvSpPr>
          <p:cNvPr id="7" name="tarjeta"/>
          <p:cNvSpPr/>
          <p:nvPr/>
        </p:nvSpPr>
        <p:spPr>
          <a:xfrm>
            <a:off x="3474720" y="1188720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89888"/>
            <a:ext cx="292608" cy="2926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023360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Registro y login con antibot</a:t>
            </a:r>
            <a:endParaRPr lang="en-US" sz="1400" dirty="0"/>
          </a:p>
        </p:txBody>
      </p:sp>
      <p:sp>
        <p:nvSpPr>
          <p:cNvPr id="10" name="tarjeta"/>
          <p:cNvSpPr/>
          <p:nvPr/>
        </p:nvSpPr>
        <p:spPr>
          <a:xfrm>
            <a:off x="3474720" y="2029968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231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20299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Publicación con foto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3474720" y="2871216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072384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023360" y="287121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Explorar con filtros</a:t>
            </a:r>
            <a:endParaRPr lang="en-US" sz="1400" dirty="0"/>
          </a:p>
        </p:txBody>
      </p:sp>
      <p:sp>
        <p:nvSpPr>
          <p:cNvPr id="16" name="tarjeta"/>
          <p:cNvSpPr/>
          <p:nvPr/>
        </p:nvSpPr>
        <p:spPr>
          <a:xfrm>
            <a:off x="3474720" y="3712464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3913632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023360" y="3712464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Trueques y solicitudes</a:t>
            </a:r>
            <a:endParaRPr lang="en-US" sz="1400" dirty="0"/>
          </a:p>
        </p:txBody>
      </p:sp>
      <p:sp>
        <p:nvSpPr>
          <p:cNvPr id="19" name="tarjeta"/>
          <p:cNvSpPr/>
          <p:nvPr/>
        </p:nvSpPr>
        <p:spPr>
          <a:xfrm>
            <a:off x="6126480" y="1188720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89888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675120" y="118872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Donaciones con Puntos Eco</a:t>
            </a:r>
            <a:endParaRPr lang="en-US" sz="1400" dirty="0"/>
          </a:p>
        </p:txBody>
      </p:sp>
      <p:sp>
        <p:nvSpPr>
          <p:cNvPr id="22" name="tarjeta"/>
          <p:cNvSpPr/>
          <p:nvPr/>
        </p:nvSpPr>
        <p:spPr>
          <a:xfrm>
            <a:off x="6126480" y="2029968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3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31136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675120" y="20299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Mapa de centros de acopio</a:t>
            </a:r>
            <a:endParaRPr lang="en-US" sz="1400" dirty="0"/>
          </a:p>
        </p:txBody>
      </p:sp>
      <p:sp>
        <p:nvSpPr>
          <p:cNvPr id="25" name="tarjeta"/>
          <p:cNvSpPr/>
          <p:nvPr/>
        </p:nvSpPr>
        <p:spPr>
          <a:xfrm>
            <a:off x="6126480" y="2871216"/>
            <a:ext cx="25146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chec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72384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6675120" y="2871216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Perfil y gestión de estados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6126480" y="373075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En desarrollo: pedidos sociales, reportes en el mapa y calificaciones.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mediremos el impacto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Dimensión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Indicador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Verificación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Tecnológica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Módulos funcionales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6 módulos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Demostración del prototipo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Usuarios piloto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20 usuarios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Registros y encuestas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Ambiental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Componentes publicados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30 componentes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Inventario en Firestore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Solicitudes y donaciones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5 casos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Registros de la plataforma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Calidad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Satisfacción de usuarios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≥ 80 % positiva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Encuesta de validación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Próximos pasos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Seguridad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Contraseñas cifradas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Credenciales como secretos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Validación de saldo de puntos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329184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icono-circulo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686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9768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Experiencia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Fotos en la nube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Buscador por texto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Edición de perfil</a:t>
            </a:r>
            <a:endParaRPr lang="en-US" sz="1400" dirty="0"/>
          </a:p>
        </p:txBody>
      </p:sp>
      <p:sp>
        <p:nvSpPr>
          <p:cNvPr id="13" name="tarjeta"/>
          <p:cNvSpPr/>
          <p:nvPr/>
        </p:nvSpPr>
        <p:spPr>
          <a:xfrm>
            <a:off x="6126480" y="11887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o-circulo"/>
          <p:cNvSpPr/>
          <p:nvPr/>
        </p:nvSpPr>
        <p:spPr>
          <a:xfrm>
            <a:off x="635508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o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501" y="158374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157276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Comunidad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2860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Pedidos sociales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Reportes de tiraderos en el mapa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Calificaciones entre usuarios</a:t>
            </a:r>
            <a:endParaRPr lang="en-US" sz="1400" dirty="0"/>
          </a:p>
        </p:txBody>
      </p:sp>
      <p:sp>
        <p:nvSpPr>
          <p:cNvPr id="18" name="objetivo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9" name="icono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1480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14300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Etapa piloto: validar la plataforma con al menos 20 usuarios y 30 componentes publicados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Equipo del proyecto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45720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icono-circulo"/>
          <p:cNvSpPr/>
          <p:nvPr/>
        </p:nvSpPr>
        <p:spPr>
          <a:xfrm>
            <a:off x="1325880" y="178308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Lic. Derlis Caballero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Docente orientador</a:t>
            </a:r>
            <a:endParaRPr lang="en-US" sz="1400" dirty="0"/>
          </a:p>
        </p:txBody>
      </p:sp>
      <p:sp>
        <p:nvSpPr>
          <p:cNvPr id="8" name="tarjeta"/>
          <p:cNvSpPr/>
          <p:nvPr/>
        </p:nvSpPr>
        <p:spPr>
          <a:xfrm>
            <a:off x="3383280" y="1188720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avatar"/>
          <p:cNvSpPr/>
          <p:nvPr/>
        </p:nvSpPr>
        <p:spPr>
          <a:xfrm>
            <a:off x="3502152" y="1307592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02152" y="13075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AB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069080" y="12801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Abrahán Báez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069080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1"/>
                </a:solidFill>
              </a:rPr>
              <a:t>Líder del proyecto</a:t>
            </a:r>
            <a:endParaRPr lang="en-US" sz="1100" dirty="0"/>
          </a:p>
        </p:txBody>
      </p:sp>
      <p:sp>
        <p:nvSpPr>
          <p:cNvPr id="13" name="tarjeta"/>
          <p:cNvSpPr/>
          <p:nvPr/>
        </p:nvSpPr>
        <p:spPr>
          <a:xfrm>
            <a:off x="6080760" y="1188720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avatar"/>
          <p:cNvSpPr/>
          <p:nvPr/>
        </p:nvSpPr>
        <p:spPr>
          <a:xfrm>
            <a:off x="6199632" y="1307592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99632" y="130759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SZ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11887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Sandra Zarate</a:t>
            </a:r>
            <a:endParaRPr lang="en-US" sz="1400" dirty="0"/>
          </a:p>
        </p:txBody>
      </p:sp>
      <p:sp>
        <p:nvSpPr>
          <p:cNvPr id="17" name="tarjeta"/>
          <p:cNvSpPr/>
          <p:nvPr/>
        </p:nvSpPr>
        <p:spPr>
          <a:xfrm>
            <a:off x="3383280" y="2029968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avatar"/>
          <p:cNvSpPr/>
          <p:nvPr/>
        </p:nvSpPr>
        <p:spPr>
          <a:xfrm>
            <a:off x="3502152" y="2148840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02152" y="21488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MM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069080" y="20299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Marcos Morel</a:t>
            </a:r>
            <a:endParaRPr lang="en-US" sz="1400" dirty="0"/>
          </a:p>
        </p:txBody>
      </p:sp>
      <p:sp>
        <p:nvSpPr>
          <p:cNvPr id="21" name="tarjeta"/>
          <p:cNvSpPr/>
          <p:nvPr/>
        </p:nvSpPr>
        <p:spPr>
          <a:xfrm>
            <a:off x="6080760" y="2029968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avatar"/>
          <p:cNvSpPr/>
          <p:nvPr/>
        </p:nvSpPr>
        <p:spPr>
          <a:xfrm>
            <a:off x="6199632" y="2148840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99632" y="214884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766560" y="2029968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Andrés Riquelme</a:t>
            </a:r>
            <a:endParaRPr lang="en-US" sz="1400" dirty="0"/>
          </a:p>
        </p:txBody>
      </p:sp>
      <p:sp>
        <p:nvSpPr>
          <p:cNvPr id="25" name="tarjeta"/>
          <p:cNvSpPr/>
          <p:nvPr/>
        </p:nvSpPr>
        <p:spPr>
          <a:xfrm>
            <a:off x="3383280" y="2871216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avatar"/>
          <p:cNvSpPr/>
          <p:nvPr/>
        </p:nvSpPr>
        <p:spPr>
          <a:xfrm>
            <a:off x="3502152" y="2990088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02152" y="2990088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GG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069080" y="2871216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Gonzalo Garcete</a:t>
            </a:r>
            <a:endParaRPr lang="en-US" sz="1400" dirty="0"/>
          </a:p>
        </p:txBody>
      </p:sp>
      <p:sp>
        <p:nvSpPr>
          <p:cNvPr id="29" name="tarjeta"/>
          <p:cNvSpPr/>
          <p:nvPr/>
        </p:nvSpPr>
        <p:spPr>
          <a:xfrm>
            <a:off x="6080760" y="2871216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avatar"/>
          <p:cNvSpPr/>
          <p:nvPr/>
        </p:nvSpPr>
        <p:spPr>
          <a:xfrm>
            <a:off x="6199632" y="2990088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99632" y="2990088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766560" y="2871216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Carlos Agüero</a:t>
            </a:r>
            <a:endParaRPr lang="en-US" sz="1400" dirty="0"/>
          </a:p>
        </p:txBody>
      </p:sp>
      <p:sp>
        <p:nvSpPr>
          <p:cNvPr id="33" name="tarjeta"/>
          <p:cNvSpPr/>
          <p:nvPr/>
        </p:nvSpPr>
        <p:spPr>
          <a:xfrm>
            <a:off x="3383280" y="3712464"/>
            <a:ext cx="256032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avatar"/>
          <p:cNvSpPr/>
          <p:nvPr/>
        </p:nvSpPr>
        <p:spPr>
          <a:xfrm>
            <a:off x="3502152" y="3831336"/>
            <a:ext cx="448056" cy="448056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502152" y="3831336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JA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069080" y="3712464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José Avalos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¡Gracias!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6517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5"/>
                </a:solidFill>
              </a:rPr>
              <a:t>Dale una segunda vida a la tecnología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¿Preguntas? Pasemos a la demostración en vivo.</a:t>
            </a:r>
            <a:endParaRPr lang="en-US" sz="1600" dirty="0"/>
          </a:p>
        </p:txBody>
      </p:sp>
      <p:sp>
        <p:nvSpPr>
          <p:cNvPr id="5" name="logo-circulo"/>
          <p:cNvSpPr/>
          <p:nvPr/>
        </p:nvSpPr>
        <p:spPr>
          <a:xfrm>
            <a:off x="6400800" y="1234440"/>
            <a:ext cx="2286000" cy="22860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log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coTrade">
  <a:themeElements>
    <a:clrScheme name="EcoTrade">
      <a:dk1>
        <a:srgbClr val="1F2A24"/>
      </a:dk1>
      <a:lt1>
        <a:srgbClr val="FFFFFF"/>
      </a:lt1>
      <a:dk2>
        <a:srgbClr val="0F3D25"/>
      </a:dk2>
      <a:lt2>
        <a:srgbClr val="E8F5E9"/>
      </a:lt2>
      <a:accent1>
        <a:srgbClr val="1B8A4F"/>
      </a:accent1>
      <a:accent2>
        <a:srgbClr val="F2A93B"/>
      </a:accent2>
      <a:accent3>
        <a:srgbClr val="6B7A72"/>
      </a:accent3>
      <a:accent4>
        <a:srgbClr val="136A3B"/>
      </a:accent4>
      <a:accent5>
        <a:srgbClr val="9CCFB0"/>
      </a:accent5>
      <a:accent6>
        <a:srgbClr val="D9534F"/>
      </a:accent6>
      <a:hlink>
        <a:srgbClr val="1B8A4F"/>
      </a:hlink>
      <a:folHlink>
        <a:srgbClr val="136A3B"/>
      </a:folHlink>
    </a:clrScheme>
    <a:fontScheme name="EcoTrad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15</Slides>
  <Notes>15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EcoTrade</vt:lpstr>
      <vt:lpstr>EcoTrade Tech</vt:lpstr>
      <vt:lpstr>Hardware útil que termina como residuo</vt:lpstr>
      <vt:lpstr>Una plataforma, cuatro pilares</vt:lpstr>
      <vt:lpstr>Alineado con los ODS de la ONU</vt:lpstr>
      <vt:lpstr>Del cajón a un nuevo dueño en cinco pasos</vt:lpstr>
      <vt:lpstr>Dos formas de intercambiar</vt:lpstr>
      <vt:lpstr>Diseño pensado primero para el celular</vt:lpstr>
      <vt:lpstr>Arquitectura de la aplicación</vt:lpstr>
      <vt:lpstr>Modelo de datos en Firestore</vt:lpstr>
      <vt:lpstr>Estados que ordenan cada intercambio</vt:lpstr>
      <vt:lpstr>Un MVP funcional que supera la meta</vt:lpstr>
      <vt:lpstr>Cómo mediremos el impacto</vt:lpstr>
      <vt:lpstr>Próximos pasos</vt:lpstr>
      <vt:lpstr>Equipo del proyecto</vt:lpstr>
      <vt:lpstr>¡Gracias!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EcoTrade Tech</dc:title>
  <dc:subject>PptxGenJS Presentation</dc:subject>
  <dc:creator>Equipo EcoTrade Tech</dc:creator>
  <cp:lastModifiedBy>fabriruiz823@gmail.com</cp:lastModifiedBy>
  <cp:revision>2</cp:revision>
  <dcterms:created xsi:type="dcterms:W3CDTF">2026-10-19T22:51:27Z</dcterms:created>
  <dcterms:modified xsi:type="dcterms:W3CDTF">2026-10-26T23:49:49Z</dcterms:modified>
</cp:coreProperties>
</file>